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38BDF8"/>
                </a:solidFill>
                <a:latin typeface="Calibri"/>
              </a:defRPr>
            </a:pPr>
            <a:r>
              <a:t>JanSunwai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AI-Powered Civic Grievance Resolution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Calibri"/>
              </a:defRPr>
            </a:pPr>
            <a:r>
              <a:t>"Your Voice Matters. We Make It Heard."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749039"/>
            <a:ext cx="210312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4206240"/>
            <a:ext cx="2834640" cy="11887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4315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TEAM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663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JanSunwai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206240"/>
            <a:ext cx="2834640" cy="11887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4315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663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Civic Grievance Resolution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206240"/>
            <a:ext cx="2834640" cy="11887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315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  <a:latin typeface="Calibri"/>
              </a:defRPr>
            </a:pPr>
            <a:r>
              <a:t>TEAM 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663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[Your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AWS AI for Bharat Hackathon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  <a:latin typeface="Calibri"/>
              </a:defRPr>
            </a:pPr>
            <a:r>
              <a:t>Brief About the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583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JanSunwai AI is an end-to-end, AI-powered civic grievance resolution platform for Indian citizens.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It transforms the broken complaint redressal system by combining multimodal complaint filing (web form + Hindi voice agent), AI-driven classification &amp; routing, automated 5-level escalation, and public transparency dashboards.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A citizen in rural India can call and speak in Hindi to file a complaint — no forms, no literacy barrier. AI automatically classifies the issue, scores severity, detects duplicates, routes it to the right department, and generates legal rights awareness for the citizen.</a:t>
            </a:r>
          </a:p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Built for scale: 10+ Indian languages, PostGIS ward-level routing, and an hourly auto-escalation cron that ensures every single complaint reaches resolution.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411480"/>
            <a:ext cx="4023360" cy="13258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548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7171"/>
                </a:solidFill>
                <a:latin typeface="Calibri"/>
              </a:defRPr>
            </a:pPr>
            <a:r>
              <a:t>2.8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85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Pending civic</a:t>
            </a:r>
            <a:br/>
            <a:r>
              <a:t>grievances across India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965960"/>
            <a:ext cx="4023360" cy="13258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BBF24"/>
                </a:solidFill>
                <a:latin typeface="Calibri"/>
              </a:defRPr>
            </a:pPr>
            <a:r>
              <a:t>45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240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Average resolution</a:t>
            </a:r>
            <a:br/>
            <a:r>
              <a:t>time for complaints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520440"/>
            <a:ext cx="4023360" cy="13258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6576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3794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Citizens unaware of</a:t>
            </a:r>
            <a:br/>
            <a:r>
              <a:t>their legal rights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5074920"/>
            <a:ext cx="4023360" cy="13258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52120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ADE80"/>
                </a:solidFill>
                <a:latin typeface="Calibri"/>
              </a:defRPr>
            </a:pPr>
            <a:r>
              <a:t>12+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53492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Departments with</a:t>
            </a:r>
            <a:br/>
            <a:r>
              <a:t>zero communication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663440"/>
            <a:ext cx="2194560" cy="1828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Voice-First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120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Hindi/English voice</a:t>
            </a:r>
            <a:br/>
            <a:r>
              <a:t>complaint filing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4663440"/>
            <a:ext cx="2194560" cy="1828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AI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2120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Gemini-powered</a:t>
            </a:r>
            <a:br/>
            <a:r>
              <a:t>category + severity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4663440"/>
            <a:ext cx="2194560" cy="1828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Calibri"/>
              </a:defRPr>
            </a:pPr>
            <a:r>
              <a:t>Auto-Escalation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52120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5-level SLA-enforced</a:t>
            </a:r>
            <a:br/>
            <a:r>
              <a:t>escalation ladder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663440"/>
            <a:ext cx="2194560" cy="1828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Calibri"/>
              </a:defRPr>
            </a:pPr>
            <a:r>
              <a:t>Public Dashboards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52120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Ward-level heatmaps</a:t>
            </a:r>
            <a:br/>
            <a:r>
              <a:t>&amp; scorecards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4663440"/>
            <a:ext cx="2194560" cy="18288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Legal Awareness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52120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AI-generated rights</a:t>
            </a:r>
            <a:br/>
            <a:r>
              <a:t>&amp; RTI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  <a:latin typeface="Calibri"/>
              </a:defRPr>
            </a:pPr>
            <a:r>
              <a:t>How is it Different? How Does it Solve the Problem?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286000" cy="4114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188720"/>
            <a:ext cx="3383280" cy="4114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Existing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029200" cy="4114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JanSunwai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2286000" cy="438912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Filing Method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645920"/>
            <a:ext cx="3383280" cy="438912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70992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Web forms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5029200" cy="438912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0992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Voice Agent (Hindi) + Web Form + 10 Languages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21408"/>
            <a:ext cx="2286000" cy="438912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8541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121408"/>
            <a:ext cx="3383280" cy="438912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1854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Manual / keyword-based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121408"/>
            <a:ext cx="5029200" cy="438912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85416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AI-powered (Gemini 2.0 Flash + Vision)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96896"/>
            <a:ext cx="2286000" cy="438912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66090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596896"/>
            <a:ext cx="3383280" cy="438912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66090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Manual department assignment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596896"/>
            <a:ext cx="5029200" cy="438912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66090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Auto-route to dept + ward officer (PostGIS)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072384"/>
            <a:ext cx="2286000" cy="438912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3639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Escalation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072384"/>
            <a:ext cx="3383280" cy="438912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313639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None / manual follow-up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072384"/>
            <a:ext cx="5029200" cy="438912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13639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5-level auto-escalation with SLA tracking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547872"/>
            <a:ext cx="2286000" cy="438912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61188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Transparency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3547872"/>
            <a:ext cx="3383280" cy="438912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0" y="361188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Opaque — no public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547872"/>
            <a:ext cx="5029200" cy="438912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611880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Public heatmaps + ward scorecards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023360"/>
            <a:ext cx="2286000" cy="438912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08736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Legal Rights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4023360"/>
            <a:ext cx="3383280" cy="438912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20" y="408736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023360"/>
            <a:ext cx="5029200" cy="438912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08736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AI-generated legal summaries per category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498848"/>
            <a:ext cx="2286000" cy="438912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56285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Duplicates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4498848"/>
            <a:ext cx="3383280" cy="438912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456285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498848"/>
            <a:ext cx="5029200" cy="438912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562856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Semantic + geographic community clustering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974336"/>
            <a:ext cx="2286000" cy="438912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0383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Accessibility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26080" y="4974336"/>
            <a:ext cx="3383280" cy="438912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17520" y="503834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Requires literacy + internet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974336"/>
            <a:ext cx="5029200" cy="438912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503834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Voice-first — works for low-literacy citizens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212080"/>
            <a:ext cx="10881360" cy="13716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USP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56235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The only platform that combines AI voice filing in Indian languages, automated severity-based escalation, and public ward-level accountability dashboards — making civic grievance resolution accessible, intelligent, and transparent.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124712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0241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Multi-Modal Filing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93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Web wizard + Hindi voice agent + photo upload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19656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190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Intelligence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842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Gemini classification, vision, severity scoring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514600"/>
            <a:ext cx="164592" cy="16459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1401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Smart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791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Auto-assign to dept + ward officer via PostGIS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209544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5-Level Escalation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741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Auto-escalate to Commissioner if SLA breached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904488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8039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Public 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69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Ward heatmaps, category stats, scorecards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599432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98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Admin Portal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76402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Role-based queue, timelines, manual controls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294376"/>
            <a:ext cx="164592" cy="16459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1937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Legal Awareness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4589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AI-generated rights summaries + RTI drafting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989320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8887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Citizen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1539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SMS/WhatsApp verify + satisfaction scoring</a:t>
            </a:r>
          </a:p>
        </p:txBody>
      </p:sp>
      <p:pic>
        <p:nvPicPr>
          <p:cNvPr id="28" name="Picture 27" descr="feature_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184935"/>
            <a:ext cx="6400800" cy="31282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  <a:latin typeface="Calibri"/>
              </a:defRPr>
            </a:pPr>
            <a:r>
              <a:t>Process Flow — Grievance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ces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962" y="1097280"/>
            <a:ext cx="1237276" cy="5486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74320" y="1188720"/>
            <a:ext cx="2286000" cy="47548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43584"/>
            <a:ext cx="347472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4358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6187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Citizen files via Web or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755648"/>
            <a:ext cx="2286000" cy="47548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" y="1810512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105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AI classifies + scores severity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322576"/>
            <a:ext cx="2286000" cy="47548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" y="2377440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774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9572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PostGIS resolves ward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889504"/>
            <a:ext cx="2286000" cy="47548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5760" y="2944368"/>
            <a:ext cx="347472" cy="34747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443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96265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Duplicate detection + clustering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456432"/>
            <a:ext cx="2286000" cy="47548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5760" y="3511296"/>
            <a:ext cx="347472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511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52958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Auto-route to department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023360"/>
            <a:ext cx="2286000" cy="47548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5760" y="4078224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0782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09651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Generate complaint # + legal rights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4590288"/>
            <a:ext cx="2286000" cy="47548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5760" y="4645152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6451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66344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Officer acts within SLA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157216"/>
            <a:ext cx="2286000" cy="47548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5760" y="5212080"/>
            <a:ext cx="347472" cy="34747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2120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23036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Auto-escalate if breached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5724144"/>
            <a:ext cx="2286000" cy="47548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5760" y="5779008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7790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79729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Citizen verifies resolution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1188720"/>
            <a:ext cx="2286000" cy="10972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12984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12 Categories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water, roads, electricity...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0" y="2514600"/>
            <a:ext cx="2286000" cy="10972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0" y="26243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Calibri"/>
              </a:defRPr>
            </a:pPr>
            <a:r>
              <a:t>0-100 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3017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5-factor severity algorithm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01200" y="3840480"/>
            <a:ext cx="2286000" cy="10972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0" y="39502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7171"/>
                </a:solidFill>
                <a:latin typeface="Calibri"/>
              </a:defRPr>
            </a:pPr>
            <a:r>
              <a:t>5 Levels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4343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Ward Officer → Commissioner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1200" y="5166360"/>
            <a:ext cx="2286000" cy="10972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0" y="52760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10+ Languages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5669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Hindi-first, multilingual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  <a:latin typeface="Calibri"/>
              </a:defRPr>
            </a:pPr>
            <a:r>
              <a:t>Wireframes &amp; Screen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713" y="1097280"/>
            <a:ext cx="8162093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74320" y="4572000"/>
            <a:ext cx="160020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Calibri"/>
              </a:defRPr>
            </a:pPr>
            <a:r>
              <a:t>Home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50292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Hero, live stats counter, 3 CTAs,</a:t>
            </a:r>
            <a:br/>
            <a:r>
              <a:t>feature cards, language selector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4572000"/>
            <a:ext cx="160020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9112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Calibri"/>
              </a:defRPr>
            </a:pPr>
            <a:r>
              <a:t>File Complaint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9112" y="50292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4-step wizard: category grid,</a:t>
            </a:r>
            <a:br/>
            <a:r>
              <a:t>photo dropzone, map,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572000"/>
            <a:ext cx="160020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  <a:latin typeface="Calibri"/>
              </a:defRPr>
            </a:pPr>
            <a:r>
              <a:t>Voice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50292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Mic button, connection status,</a:t>
            </a:r>
            <a:br/>
            <a:r>
              <a:t>live transcript, call timer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4572000"/>
            <a:ext cx="160020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Calibri"/>
              </a:defRPr>
            </a:pPr>
            <a:r>
              <a:t>Public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2392" y="50292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Google Maps heatmap, filter chips,</a:t>
            </a:r>
            <a:br/>
            <a:r>
              <a:t>stats bar, ward scorecards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4572000"/>
            <a:ext cx="160020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Calibri"/>
              </a:defRPr>
            </a:pPr>
            <a:r>
              <a:t>Track Complaint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50292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Search by phone/#, status card,</a:t>
            </a:r>
            <a:br/>
            <a:r>
              <a:t>timeline, legal rights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4572000"/>
            <a:ext cx="160020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5672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7171"/>
                </a:solidFill>
                <a:latin typeface="Calibri"/>
              </a:defRPr>
            </a:pPr>
            <a:r>
              <a:t>Admin 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50292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Filterable table, severity badges,</a:t>
            </a:r>
            <a:br/>
            <a:r>
              <a:t>SLA countdown, pagination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24160" y="4572000"/>
            <a:ext cx="160020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97312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Calibri"/>
              </a:defRPr>
            </a:pPr>
            <a:r>
              <a:t>Grievance Detail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97312" y="50292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Split: complaint + photos |</a:t>
            </a:r>
            <a:br/>
            <a:r>
              <a:t>timeline +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71" y="1051560"/>
            <a:ext cx="10154778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  <a:latin typeface="Calibri"/>
              </a:defRPr>
            </a:pPr>
            <a: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97280"/>
            <a:ext cx="2240280" cy="43891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224028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Next.js 15 (App Router)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React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Tailwind CSS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LiveKit Client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Google Maps JS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NextAuth.js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79192" y="1097280"/>
            <a:ext cx="2240280" cy="43891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79192" y="1097280"/>
            <a:ext cx="2240280" cy="4572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9192" y="11155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1691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Express.js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20574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Prisma 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24231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PostgreSQL 14+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2788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PostGIS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31546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Zod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3520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Node-Cron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38862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Helmet + CORS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38344" y="1097280"/>
            <a:ext cx="2240280" cy="43891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38344" y="1097280"/>
            <a:ext cx="2240280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38344" y="11155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/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1691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Gemini 2.0 Flash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20574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Gemini Vision (Photos)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24231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Gemini 2.5 Flash (Voice)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75504" y="2788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5-Factor Severity Algo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5504" y="31546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Semantic Deduplication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4" y="3520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Legal Rights Generation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97496" y="1097280"/>
            <a:ext cx="2240280" cy="43891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97496" y="1097280"/>
            <a:ext cx="2240280" cy="457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97496" y="11155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Voice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6" y="1691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LiveKit Agents (Python)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34656" y="20574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Deepgram STT (Hindi)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656" y="24231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ElevenLabs TTS (Hindi)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4656" y="2788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Silero VAD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4656" y="31546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Multilingual Turn Detection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56648" y="1097280"/>
            <a:ext cx="2240280" cy="43891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56648" y="1097280"/>
            <a:ext cx="2240280" cy="4572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56648" y="11155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3808" y="1691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Vercel (Frontend)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20574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Render (API + Agent)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93808" y="24231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Supabase (DB + Storage)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2788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LiveKit Cloud (WebRTC)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93808" y="31546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npm Workspaces (Monorepo)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0040" y="5623560"/>
            <a:ext cx="11521440" cy="105156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669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AWS Services Mapping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989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Gemini  →  Amazon Bedrock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29000" y="5989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Deepgram  →  Amazon Transcribe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5989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ElevenLabs  →  Amazon Polly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20" y="5989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Supabase DB  →  Amazon RDS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2636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Supabase Storage  →  Amazon S3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29000" y="62636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Vercel  →  AWS Amplify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62636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Render  →  App Runner / ECS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9720" y="62636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LiveKit  →  Amazon Chime SDK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  <a:latin typeface="Calibri"/>
              </a:defRPr>
            </a:pPr>
            <a:r>
              <a:t>Estimated Implementation Cost (AWS)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108960" cy="3840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AWS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143000"/>
            <a:ext cx="2926080" cy="3840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1887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Usage Estimate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43000"/>
            <a:ext cx="1645920" cy="38404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1887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Cost /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310896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184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Amazon Bedrock (AI)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572768"/>
            <a:ext cx="292608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618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~50K classifications/mo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572768"/>
            <a:ext cx="164592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618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$150 - $300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56816"/>
            <a:ext cx="310896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025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Amazon Transcribe (STT)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1956816"/>
            <a:ext cx="292608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20025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~500 hrs audio/mo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956816"/>
            <a:ext cx="164592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0025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$120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40864"/>
            <a:ext cx="310896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3865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Amazon Polly (TTS)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2340864"/>
            <a:ext cx="292608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23865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~2M characters/mo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340864"/>
            <a:ext cx="164592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38658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$8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724912"/>
            <a:ext cx="310896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7706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Amazon RDS + PostGIS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2724912"/>
            <a:ext cx="292608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0" y="2770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db.t3.medium, 100GB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2724912"/>
            <a:ext cx="164592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2770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$70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108960"/>
            <a:ext cx="310896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154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Amazon S3 (Storage)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3108960"/>
            <a:ext cx="292608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40" y="3154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50GB + transfers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3108960"/>
            <a:ext cx="164592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3154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$5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493008"/>
            <a:ext cx="310896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5387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AWS Amplify (Frontend)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3493008"/>
            <a:ext cx="292608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40" y="3538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Standard hosting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3493008"/>
            <a:ext cx="164592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3538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$15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77056"/>
            <a:ext cx="310896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9227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AWS App Runner (API)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3877056"/>
            <a:ext cx="292608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0" y="39227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 vCPU, 4GB RAM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3877056"/>
            <a:ext cx="164592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0" y="39227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$50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261104"/>
            <a:ext cx="310896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3068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Amazon Chime SDK (Voice)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4261104"/>
            <a:ext cx="292608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49040" y="43068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~10K minutes/mo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75120" y="4261104"/>
            <a:ext cx="164592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0" y="43068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$30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645152"/>
            <a:ext cx="310896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690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Amazon Location Service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0" y="4645152"/>
            <a:ext cx="292608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49040" y="4690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~100K geocoding requests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75120" y="4645152"/>
            <a:ext cx="1645920" cy="365760"/>
          </a:xfrm>
          <a:prstGeom prst="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66560" y="46908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$50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029200"/>
            <a:ext cx="310896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074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EventBridge + CloudWatch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0" y="5029200"/>
            <a:ext cx="292608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4904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Cron + monitoring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75120" y="5029200"/>
            <a:ext cx="1645920" cy="365760"/>
          </a:xfrm>
          <a:prstGeom prst="rect">
            <a:avLst/>
          </a:prstGeom>
          <a:solidFill>
            <a:srgbClr val="15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66560" y="5074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$11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5486400"/>
            <a:ext cx="78638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TOTAL ESTIMATED (Pilot — 1 City)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5120" y="5532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DE80"/>
                </a:solidFill>
                <a:latin typeface="Calibri"/>
              </a:defRPr>
            </a:pPr>
            <a:r>
              <a:t>$509 - $659/mo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Scaling Projections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86800" y="1508760"/>
            <a:ext cx="18288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686800" y="1737360"/>
            <a:ext cx="3200400" cy="12801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69680" y="1828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Pilot (1 City)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69680" y="21214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10K users · 5K complaints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69680" y="24505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~$500/mo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686800" y="3246120"/>
            <a:ext cx="3200400" cy="12801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69680" y="3337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Regional (1 State)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69680" y="36301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100K users · 50K complaints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69680" y="39593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~$2,500/mo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686800" y="4754880"/>
            <a:ext cx="3200400" cy="12801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869680" y="4846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National (Pan-India)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69680" y="51389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1M+ users · 500K+ complaints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69680" y="54681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Calibri"/>
              </a:defRPr>
            </a:pPr>
            <a:r>
              <a:t>~$15,000/mo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86800" y="6263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Cost Optimization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86800" y="6492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Bedrock batch inference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0" y="6675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S3 Intelligent Tiering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86800" y="68580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RDS Reserved Instances (40% off)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86800" y="70408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  Lambda for cron (pay-per-use)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  <a:latin typeface="Calibri"/>
              </a:defRPr>
            </a:pPr>
            <a:r>
              <a:t>Deep Dive: Voice Agent &amp; Escalation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Voice Agent — Sequence Diagram</a:t>
            </a:r>
          </a:p>
        </p:txBody>
      </p:sp>
      <p:pic>
        <p:nvPicPr>
          <p:cNvPr id="5" name="Picture 4" descr="voice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48" y="1371600"/>
            <a:ext cx="5505463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Auto-Escalation Engine</a:t>
            </a:r>
          </a:p>
        </p:txBody>
      </p:sp>
      <p:pic>
        <p:nvPicPr>
          <p:cNvPr id="7" name="Picture 6" descr="escalation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57264"/>
            <a:ext cx="5486400" cy="46407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  <a:latin typeface="Calibri"/>
              </a:defRPr>
            </a:pPr>
            <a:r>
              <a:t>Database Schema &amp; Severity Scoring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Entity Relationship Diagram</a:t>
            </a:r>
          </a:p>
        </p:txBody>
      </p:sp>
      <p:pic>
        <p:nvPicPr>
          <p:cNvPr id="5" name="Picture 4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955" y="1371600"/>
            <a:ext cx="409025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Severity Score Algorithm (0-100)</a:t>
            </a:r>
          </a:p>
        </p:txBody>
      </p:sp>
      <p:pic>
        <p:nvPicPr>
          <p:cNvPr id="7" name="Picture 6" descr="severity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773" y="1371600"/>
            <a:ext cx="4757014" cy="3200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4846320"/>
            <a:ext cx="1828800" cy="9601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48920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Issue Type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892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5166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Water, sewage, roads</a:t>
            </a:r>
            <a:br/>
            <a:r>
              <a:t>get higher base scores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4846320"/>
            <a:ext cx="1828800" cy="9601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48920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Affected Population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4892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5166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Community issues</a:t>
            </a:r>
            <a:br/>
            <a:r>
              <a:t>and duplicate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4846320"/>
            <a:ext cx="1828800" cy="9601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14432" y="48920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Vulnerability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4892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4432" y="5166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Elderly, disabled,</a:t>
            </a:r>
            <a:br/>
            <a:r>
              <a:t>BPL, pregnant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897880"/>
            <a:ext cx="1828800" cy="9601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59436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Calibri"/>
              </a:defRPr>
            </a:pPr>
            <a:r>
              <a:t>Time Sensitivity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9436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6217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Seasonal urgency</a:t>
            </a:r>
            <a:br/>
            <a:r>
              <a:t>and health risks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5897880"/>
            <a:ext cx="1828800" cy="9601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59436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Recurrence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59436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6217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Same issue reported</a:t>
            </a:r>
            <a:br/>
            <a:r>
              <a:t>multiple times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8BDF8"/>
                </a:solidFill>
                <a:latin typeface="Calibri"/>
              </a:defRPr>
            </a:pPr>
            <a:r>
              <a:t>Impact Metrics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Projected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212080" cy="502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Resolution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536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45 days  →  7-14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5212080" cy="502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Citizen 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305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alibri"/>
              </a:defRPr>
            </a:pPr>
            <a:r>
              <a:t>67% unaware  →  90%+ informed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5212080" cy="502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249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Misrouted Complaints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249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~40%  →  &lt;5%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46120"/>
            <a:ext cx="5212080" cy="502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192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Duplicate Complaints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319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Calibri"/>
              </a:defRPr>
            </a:pPr>
            <a:r>
              <a:t>~30%  →  &lt;10%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5212080" cy="502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Dept Accountability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13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Calibri"/>
              </a:defRPr>
            </a:pPr>
            <a:r>
              <a:t>Near zero  →  100% tracked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5212080" cy="5029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079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Low-Literacy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5079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alibri"/>
              </a:defRPr>
            </a:pPr>
            <a:r>
              <a:t>Excluded  →  Fully included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Government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32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Digital India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532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CPGRAMS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532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Smart Cities 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06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RTI Act 2005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806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Article 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Deployment Architecture</a:t>
            </a:r>
          </a:p>
        </p:txBody>
      </p:sp>
      <p:pic>
        <p:nvPicPr>
          <p:cNvPr id="30" name="Picture 29" descr="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07012"/>
            <a:ext cx="5943600" cy="3358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38BDF8"/>
                </a:solidFill>
                <a:latin typeface="Calibri"/>
              </a:defRPr>
            </a:pPr>
            <a:r>
              <a:t>JanSunwai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ADE80"/>
                </a:solidFill>
                <a:latin typeface="Calibri"/>
              </a:defRPr>
            </a:pPr>
            <a:r>
              <a:t>"Your Voice Matters. We Make It Heard."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383280"/>
            <a:ext cx="210312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BD5E1"/>
                </a:solidFill>
                <a:latin typeface="Calibri"/>
              </a:defRPr>
            </a:pPr>
            <a:r>
              <a:t>An AI-powered platform transforming how 1.4 billion Indians</a:t>
            </a:r>
            <a:br/>
            <a:r>
              <a:t>resolve civic grievances — making government accountable,</a:t>
            </a:r>
            <a:br/>
            <a:r>
              <a:t>citizens empowered, and cities smarter.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5207" y="5029200"/>
            <a:ext cx="1554480" cy="5029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207" y="506577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Next.js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2567" y="5029200"/>
            <a:ext cx="1554480" cy="5029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567" y="506577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Express.js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9927" y="5029200"/>
            <a:ext cx="1554480" cy="5029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9927" y="506577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Gemini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5029200"/>
            <a:ext cx="1554480" cy="5029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7287" y="506577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LiveKit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647" y="5029200"/>
            <a:ext cx="1554480" cy="5029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647" y="506577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PostGIS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62007" y="5029200"/>
            <a:ext cx="1554480" cy="5029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62007" y="506577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AWS-Ready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Thank You!  |  AWS AI for Bharat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